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920" r:id="rId3"/>
    <p:sldId id="913" r:id="rId5"/>
    <p:sldId id="918" r:id="rId6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30000">
        <a:solidFill>
          <a:schemeClr val="accent2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9900"/>
    <a:srgbClr val="FFFFFF"/>
    <a:srgbClr val="FFCC00"/>
    <a:srgbClr val="996600"/>
    <a:srgbClr val="663300"/>
    <a:srgbClr val="894400"/>
    <a:srgbClr val="A45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8522"/>
    <p:restoredTop sz="95487"/>
  </p:normalViewPr>
  <p:slideViewPr>
    <p:cSldViewPr showGuides="1">
      <p:cViewPr varScale="1">
        <p:scale>
          <a:sx n="88" d="100"/>
          <a:sy n="88" d="100"/>
        </p:scale>
        <p:origin x="1722" y="90"/>
      </p:cViewPr>
      <p:guideLst>
        <p:guide orient="horz" pos="2160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870"/>
    </p:cViewPr>
  </p:sorterViewPr>
  <p:gridSpacing cx="45004" cy="45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2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4FD04E-1981-4118-8BB1-7F708510B33B}" type="datetimeFigureOut">
              <a:rPr kumimoji="0" lang="zh-CN" altLang="en-US" sz="1200" b="0" i="0" u="none" strike="noStrike" kern="120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E1E18C-B8A6-4D97-B871-8094E2543BBC}" type="slidenum">
              <a:rPr kumimoji="0" lang="zh-CN" altLang="en-US" sz="1200" b="0" i="0" u="none" strike="noStrike" kern="120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3000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3000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3000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 baseline="30000">
                    <a:solidFill>
                      <a:schemeClr val="accent2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30000" noProof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3000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3000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aseline="30000">
                  <a:solidFill>
                    <a:schemeClr val="accent2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3000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19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19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252C05-138E-4BFD-9199-E546DE45D22F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72AA71-E3C1-4537-9478-297D2CCB2390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A35B30-7DF9-4675-9943-D1B0C285FAB7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1D48EEB-FA81-4594-B495-25E472156EDF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75778EC-67B8-4318-B003-62A971640697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12542E-4E04-443C-A381-8ADE34909348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2D09F54-4A93-427B-A911-3D279351506B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844A41-DE06-4C70-86AF-56A5C472E23A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D7B7B6-EF59-48D9-807D-2B9F00C75666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F46AE34-EC78-4A05-BDE9-34DDDB2252AF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4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17F168-03D7-46B7-93C5-DEB502A85F46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611188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3000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611188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3000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033463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3000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033463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3000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96043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3000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503238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3000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9381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aseline="30000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3000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09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Tx/>
              <a:buNone/>
              <a:defRPr kumimoji="1"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400" b="0" i="0" u="none" strike="noStrike" kern="1200" cap="none" spc="0" normalizeH="0" baseline="30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9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400" noProof="1"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5AC915-B437-481A-9B2F-C5A31239E600}" type="slidenum">
              <a:rPr kumimoji="0" lang="zh-CN" altLang="en-US" sz="1400" b="0" i="0" u="none" strike="noStrike" kern="1200" cap="none" spc="0" normalizeH="0" baseline="30000" noProof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400" b="0" i="0" u="none" strike="noStrike" kern="1200" cap="none" spc="0" normalizeH="0" baseline="30000" noProof="1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Arial" panose="020B0604020202020204" pitchFamily="34" charset="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cs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Arial" panose="020B0604020202020204" pitchFamily="34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内容占位符 10242"/>
          <p:cNvSpPr>
            <a:spLocks noGrp="1"/>
          </p:cNvSpPr>
          <p:nvPr>
            <p:ph idx="1"/>
          </p:nvPr>
        </p:nvSpPr>
        <p:spPr>
          <a:xfrm>
            <a:off x="476250" y="1616710"/>
            <a:ext cx="8199755" cy="5201285"/>
          </a:xfrm>
        </p:spPr>
        <p:txBody>
          <a:bodyPr anchor="t"/>
          <a:p>
            <a:pPr marL="0" lvl="0" indent="0" eaLnBrk="1" latinLnBrk="0" hangingPunct="1">
              <a:lnSpc>
                <a:spcPct val="100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各课设小组完成题目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、题目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。完成后，可按照下列步骤进行检查：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711200" eaLnBrk="1" latinLnBrk="0" hangingPunct="1">
              <a:lnSpc>
                <a:spcPct val="100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None/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）将题目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得到的汇编语言程序及其结果、题目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的带注释的语法树通过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QQ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发给老师。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711200" eaLnBrk="1" latinLnBrk="0" hangingPunct="1">
              <a:lnSpc>
                <a:spcPct val="100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None/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）老师对以上结果进行检查，安排具体答辩时间。（预计在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月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之前完成检查）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711200" eaLnBrk="1" latinLnBrk="0" hangingPunct="1">
              <a:lnSpc>
                <a:spcPct val="100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None/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）答辩通过，各课设小组撰写课设报告，在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月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15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日之前发给老师。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711200" eaLnBrk="1" latinLnBrk="0" hangingPunct="1">
              <a:lnSpc>
                <a:spcPct val="100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None/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7910" y="457200"/>
            <a:ext cx="6671945" cy="811530"/>
          </a:xfrm>
        </p:spPr>
        <p:txBody>
          <a:bodyPr anchor="ctr"/>
          <a:p>
            <a:pPr algn="ctr"/>
            <a:r>
              <a:rPr 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课程设计检查题目与步骤</a:t>
            </a:r>
            <a:endParaRPr 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内容占位符 10242"/>
          <p:cNvSpPr>
            <a:spLocks noGrp="1"/>
          </p:cNvSpPr>
          <p:nvPr>
            <p:ph idx="1"/>
          </p:nvPr>
        </p:nvSpPr>
        <p:spPr>
          <a:xfrm>
            <a:off x="609600" y="1527810"/>
            <a:ext cx="8199755" cy="5201285"/>
          </a:xfrm>
        </p:spPr>
        <p:txBody>
          <a:bodyPr anchor="t"/>
          <a:p>
            <a:pPr marL="0" lvl="0" indent="0" eaLnBrk="1" latinLnBrk="0" hangingPunct="1">
              <a:lnSpc>
                <a:spcPct val="100000"/>
              </a:lnSpc>
              <a:spcBef>
                <a:spcPts val="12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请将下面的源程序翻译为汇编语言程序，并运行出正确的结果：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struct student{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char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*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name;  //姓名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int num;  //学号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int age;  //年龄    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float score;  //成绩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 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void main(){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int i, num_140 = 0;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float sum = 0;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student 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sts[2]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{"Li ping", 5, 18, 145.0}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endParaRPr 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{"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Wang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ming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", 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 18, 1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50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.0}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}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 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if(</a:t>
            </a: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sts[1]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.score&lt;140) flag=-1;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else flag=1；    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lvl="0" indent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printf("%d ", flag);   </a:t>
            </a:r>
            <a:endParaRPr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57910" y="457200"/>
            <a:ext cx="6671945" cy="811530"/>
          </a:xfrm>
        </p:spPr>
        <p:txBody>
          <a:bodyPr anchor="ctr"/>
          <a:p>
            <a:pPr algn="ctr"/>
            <a:r>
              <a:rPr 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课程设计检查题目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3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43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43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243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43">
                                            <p:txEl>
                                              <p:char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43">
                                            <p:txEl>
                                              <p:char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243">
                                            <p:txEl>
                                              <p:char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43">
                                            <p:txEl>
                                              <p:char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243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24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243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243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243">
                                            <p:txEl>
                                              <p:char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243">
                                            <p:txEl>
                                              <p:char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243">
                                            <p:txEl>
                                              <p:char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243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0243">
                                            <p:txEl>
                                              <p:char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0243">
                                            <p:txEl>
                                              <p:char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0243">
                                            <p:txEl>
                                              <p:char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0243">
                                            <p:txEl>
                                              <p:char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0243">
                                            <p:txEl>
                                              <p:char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57910" y="457200"/>
            <a:ext cx="6671945" cy="811530"/>
          </a:xfrm>
        </p:spPr>
        <p:txBody>
          <a:bodyPr anchor="ctr"/>
          <a:p>
            <a:pPr algn="ctr"/>
            <a:r>
              <a:rPr 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课程设计检查题目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793750" y="3070225"/>
          <a:ext cx="7491730" cy="369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1910"/>
                <a:gridCol w="2730500"/>
                <a:gridCol w="2179320"/>
              </a:tblGrid>
              <a:tr h="17881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endParaRPr lang="en-US" sz="2400" b="1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for(){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 if(){}else{}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}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endParaRPr lang="zh-CN" altLang="en-US" sz="24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if(){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 while(){}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}else{ }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endParaRPr lang="zh-CN" altLang="en-US" sz="24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while(){ </a:t>
                      </a:r>
                      <a:endParaRPr lang="en-US" sz="2400">
                        <a:solidFill>
                          <a:srgbClr val="000000"/>
                        </a:solidFill>
                        <a:latin typeface="宋体" panose="02010600030101010101" pitchFamily="2" charset="-122"/>
                        <a:sym typeface="+mn-ea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  for(){ }</a:t>
                      </a:r>
                      <a:endParaRPr lang="en-US" sz="2400">
                        <a:solidFill>
                          <a:srgbClr val="000000"/>
                        </a:solidFill>
                        <a:latin typeface="宋体" panose="02010600030101010101" pitchFamily="2" charset="-122"/>
                        <a:sym typeface="+mn-ea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}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905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endParaRPr lang="zh-CN" altLang="en-US" sz="24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if(){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 for(){}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}else{ }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endParaRPr lang="zh-CN" altLang="en-US" sz="24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if(){ }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else{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  for(){}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}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</a:t>
                      </a:r>
                      <a:endParaRPr lang="zh-CN" altLang="en-US" sz="24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if(){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}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else{ 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sym typeface="+mn-ea"/>
                        </a:rPr>
                        <a:t> if(){}</a:t>
                      </a:r>
                      <a:endParaRPr 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  <a:p>
                      <a:pPr indent="0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 }</a:t>
                      </a:r>
                      <a:endParaRPr lang="en-US" altLang="en-US" sz="2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75920" y="1494155"/>
            <a:ext cx="8035925" cy="162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 baseline="0">
                <a:solidFill>
                  <a:schemeClr val="tx1"/>
                </a:solidFill>
              </a:rPr>
              <a:t>       </a:t>
            </a:r>
            <a:r>
              <a:rPr lang="zh-CN" altLang="en-US" b="1" baseline="0">
                <a:solidFill>
                  <a:srgbClr val="FF0000"/>
                </a:solidFill>
              </a:rPr>
              <a:t>回填检查</a:t>
            </a:r>
            <a:r>
              <a:rPr lang="zh-CN" altLang="en-US" b="1" baseline="0">
                <a:solidFill>
                  <a:schemeClr val="tx1"/>
                </a:solidFill>
              </a:rPr>
              <a:t>：请同学们根据自己的编译程序，用带注释的语法树分析各组语句是如何执行的。（请同学们自己补充括号内的语句，选择下面的哪一组可用公式</a:t>
            </a:r>
            <a:r>
              <a:rPr lang="en-US" altLang="zh-CN" b="1" baseline="0">
                <a:solidFill>
                  <a:schemeClr val="tx1"/>
                </a:solidFill>
              </a:rPr>
              <a:t>“</a:t>
            </a:r>
            <a:r>
              <a:rPr lang="zh-CN" altLang="en-US" b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组长的学号</a:t>
            </a:r>
            <a:r>
              <a:rPr lang="en-US" altLang="zh-CN" b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 6=i</a:t>
            </a:r>
            <a:r>
              <a:rPr lang="zh-CN" altLang="en-US" b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，即第</a:t>
            </a:r>
            <a:r>
              <a:rPr lang="en-US" altLang="zh-CN" b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b="1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</a:t>
            </a:r>
            <a:r>
              <a:rPr lang="en-US" altLang="zh-CN" b="1" baseline="0">
                <a:solidFill>
                  <a:schemeClr val="tx1"/>
                </a:solidFill>
              </a:rPr>
              <a:t>”</a:t>
            </a:r>
            <a:r>
              <a:rPr lang="zh-CN" altLang="en-US" b="1" baseline="0">
                <a:solidFill>
                  <a:schemeClr val="tx1"/>
                </a:solidFill>
              </a:rPr>
              <a:t>）</a:t>
            </a:r>
            <a:endParaRPr lang="zh-CN" altLang="en-US" b="1" baseline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p="http://schemas.openxmlformats.org/presentationml/2006/main">
  <p:tag name="TABLE_ENDDRAG_ORIGIN_RECT" val="589*283"/>
  <p:tag name="TABLE_ENDDRAG_RECT" val="55*245*589*283"/>
</p:tagLst>
</file>

<file path=ppt/tags/tag2.xml><?xml version="1.0" encoding="utf-8"?>
<p:tagLst xmlns:p="http://schemas.openxmlformats.org/presentationml/2006/main">
  <p:tag name="KSO_WPP_MARK_KEY" val="0eeefab2-d958-4450-9763-6f68394965aa"/>
  <p:tag name="COMMONDATA" val="eyJoZGlkIjoiN2YxMWU2Y2I2ODBhOWYzMjRlMjczNTZmYTkzMTE3MWMifQ=="/>
</p:tagLst>
</file>

<file path=ppt/theme/theme1.xml><?xml version="1.0" encoding="utf-8"?>
<a:theme xmlns:a="http://schemas.openxmlformats.org/drawingml/2006/main" name="Blends">
  <a:themeElements>
    <a:clrScheme name="Office 主题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 主题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>
        <a:ln w="19050" cap="flat" cmpd="sng">
          <a:solidFill>
            <a:schemeClr val="tx1"/>
          </a:solidFill>
          <a:prstDash val="dash"/>
          <a:round/>
          <a:headEnd type="none" w="med" len="med"/>
          <a:tailEnd type="none" w="lg" len="lg"/>
        </a:ln>
      </a:spPr>
      <a:bodyPr/>
      <a:lstStyle/>
    </a:lnDef>
  </a:objectDefaults>
  <a:extraClrSchemeLst>
    <a:extraClrScheme>
      <a:clrScheme name="Office 主题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792</Words>
  <Application>WPS 演示</Application>
  <PresentationFormat>全屏显示(4:3)</PresentationFormat>
  <Paragraphs>62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Tahoma</vt:lpstr>
      <vt:lpstr>Times New Roman</vt:lpstr>
      <vt:lpstr>微软雅黑</vt:lpstr>
      <vt:lpstr>Arial Unicode MS</vt:lpstr>
      <vt:lpstr>Calibri</vt:lpstr>
      <vt:lpstr>Blends</vt:lpstr>
      <vt:lpstr>课程设计检查题目与步骤</vt:lpstr>
      <vt:lpstr>课程设计检查题目1</vt:lpstr>
      <vt:lpstr>课程设计检查题目2</vt:lpstr>
    </vt:vector>
  </TitlesOfParts>
  <Company>hust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 语法制导翻译技术和中间代码生成</dc:title>
  <dc:creator>刘铭</dc:creator>
  <cp:lastModifiedBy>Hrw</cp:lastModifiedBy>
  <cp:revision>736</cp:revision>
  <dcterms:created xsi:type="dcterms:W3CDTF">2001-11-05T07:07:00Z</dcterms:created>
  <dcterms:modified xsi:type="dcterms:W3CDTF">2026-05-06T10:25:26Z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735B9D87A59546C9A8A8D6D9870E6FB3_13</vt:lpwstr>
  </property>
</Properties>
</file>